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13"/>
  </p:notesMasterIdLst>
  <p:sldIdLst>
    <p:sldId id="256" r:id="rId2"/>
    <p:sldId id="714" r:id="rId3"/>
    <p:sldId id="674" r:id="rId4"/>
    <p:sldId id="715" r:id="rId5"/>
    <p:sldId id="716" r:id="rId6"/>
    <p:sldId id="676" r:id="rId7"/>
    <p:sldId id="717" r:id="rId8"/>
    <p:sldId id="718" r:id="rId9"/>
    <p:sldId id="719" r:id="rId10"/>
    <p:sldId id="711" r:id="rId11"/>
    <p:sldId id="3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51" autoAdjust="0"/>
    <p:restoredTop sz="93445" autoAdjust="0"/>
  </p:normalViewPr>
  <p:slideViewPr>
    <p:cSldViewPr snapToGrid="0">
      <p:cViewPr varScale="1">
        <p:scale>
          <a:sx n="106" d="100"/>
          <a:sy n="106" d="100"/>
        </p:scale>
        <p:origin x="432" y="16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06/12/25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Employee Retention Prediction</a:t>
            </a:r>
          </a:p>
        </p:txBody>
      </p:sp>
      <p:sp>
        <p:nvSpPr>
          <p:cNvPr id="3" name="Rectangle 2">
            <a:extLst>
              <a:ext uri="{FF2B5EF4-FFF2-40B4-BE49-F238E27FC236}">
                <a16:creationId xmlns="" xmlns:a16="http://schemas.microsoft.com/office/drawing/2014/main" id="{3B015D79-7EA4-44AE-AAD2-7D373F44E379}"/>
              </a:ext>
            </a:extLst>
          </p:cNvPr>
          <p:cNvSpPr/>
          <p:nvPr/>
        </p:nvSpPr>
        <p:spPr>
          <a:xfrm>
            <a:off x="4376791" y="5909922"/>
            <a:ext cx="768507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By – Devendra Singh Rathore</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38B360-A630-EE21-210D-844E85048949}"/>
              </a:ext>
            </a:extLst>
          </p:cNvPr>
          <p:cNvSpPr>
            <a:spLocks noGrp="1"/>
          </p:cNvSpPr>
          <p:nvPr>
            <p:ph type="title"/>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chemeClr val="accent2"/>
            </a:solidFill>
          </a:ln>
        </p:spPr>
        <p:txBody>
          <a:bodyPr/>
          <a:lstStyle/>
          <a:p>
            <a:r>
              <a:rPr lang="en-US" dirty="0" smtClean="0"/>
              <a:t>                                           Agenda</a:t>
            </a:r>
            <a:endParaRPr lang="en-IN" dirty="0"/>
          </a:p>
        </p:txBody>
      </p:sp>
      <p:sp>
        <p:nvSpPr>
          <p:cNvPr id="3" name="Content Placeholder 2">
            <a:extLst>
              <a:ext uri="{FF2B5EF4-FFF2-40B4-BE49-F238E27FC236}">
                <a16:creationId xmlns="" xmlns:a16="http://schemas.microsoft.com/office/drawing/2014/main" id="{67B003C9-103A-47E6-D7EB-87D0A8CB5431}"/>
              </a:ext>
            </a:extLst>
          </p:cNvPr>
          <p:cNvSpPr>
            <a:spLocks noGrp="1"/>
          </p:cNvSpPr>
          <p:nvPr>
            <p:ph idx="1"/>
          </p:nvPr>
        </p:nvSpPr>
        <p:spPr>
          <a:noFill/>
        </p:spPr>
        <p:txBody>
          <a:bodyPr/>
          <a:lstStyle/>
          <a:p>
            <a:pPr marL="0" indent="0">
              <a:buNone/>
            </a:pPr>
            <a:r>
              <a:rPr lang="en-US" dirty="0">
                <a:ln w="0"/>
                <a:solidFill>
                  <a:schemeClr val="accent1"/>
                </a:solidFill>
                <a:effectLst>
                  <a:outerShdw blurRad="38100" dist="25400" dir="5400000" algn="ctr" rotWithShape="0">
                    <a:srgbClr val="6E747A">
                      <a:alpha val="43000"/>
                    </a:srgbClr>
                  </a:outerShdw>
                </a:effectLst>
              </a:rPr>
              <a:t>1.Key Sections: Business Context </a:t>
            </a:r>
            <a:br>
              <a:rPr lang="en-US" dirty="0">
                <a:ln w="0"/>
                <a:solidFill>
                  <a:schemeClr val="accent1"/>
                </a:solidFill>
                <a:effectLst>
                  <a:outerShdw blurRad="38100" dist="25400" dir="5400000" algn="ctr" rotWithShape="0">
                    <a:srgbClr val="6E747A">
                      <a:alpha val="43000"/>
                    </a:srgbClr>
                  </a:outerShdw>
                </a:effectLst>
              </a:rPr>
            </a:br>
            <a:r>
              <a:rPr lang="en-US" dirty="0">
                <a:ln w="0"/>
                <a:solidFill>
                  <a:schemeClr val="accent1"/>
                </a:solidFill>
                <a:effectLst>
                  <a:outerShdw blurRad="38100" dist="25400" dir="5400000" algn="ctr" rotWithShape="0">
                    <a:srgbClr val="6E747A">
                      <a:alpha val="43000"/>
                    </a:srgbClr>
                  </a:outerShdw>
                </a:effectLst>
              </a:rPr>
              <a:t>2.Dataset Overview </a:t>
            </a:r>
            <a:br>
              <a:rPr lang="en-US" dirty="0">
                <a:ln w="0"/>
                <a:solidFill>
                  <a:schemeClr val="accent1"/>
                </a:solidFill>
                <a:effectLst>
                  <a:outerShdw blurRad="38100" dist="25400" dir="5400000" algn="ctr" rotWithShape="0">
                    <a:srgbClr val="6E747A">
                      <a:alpha val="43000"/>
                    </a:srgbClr>
                  </a:outerShdw>
                </a:effectLst>
              </a:rPr>
            </a:br>
            <a:r>
              <a:rPr lang="en-US" dirty="0">
                <a:ln w="0"/>
                <a:solidFill>
                  <a:schemeClr val="accent1"/>
                </a:solidFill>
                <a:effectLst>
                  <a:outerShdw blurRad="38100" dist="25400" dir="5400000" algn="ctr" rotWithShape="0">
                    <a:srgbClr val="6E747A">
                      <a:alpha val="43000"/>
                    </a:srgbClr>
                  </a:outerShdw>
                </a:effectLst>
              </a:rPr>
              <a:t>3.Exploratory Data Analysis (EDA) </a:t>
            </a:r>
            <a:br>
              <a:rPr lang="en-US" dirty="0">
                <a:ln w="0"/>
                <a:solidFill>
                  <a:schemeClr val="accent1"/>
                </a:solidFill>
                <a:effectLst>
                  <a:outerShdw blurRad="38100" dist="25400" dir="5400000" algn="ctr" rotWithShape="0">
                    <a:srgbClr val="6E747A">
                      <a:alpha val="43000"/>
                    </a:srgbClr>
                  </a:outerShdw>
                </a:effectLst>
              </a:rPr>
            </a:br>
            <a:r>
              <a:rPr lang="en-US" dirty="0">
                <a:ln w="0"/>
                <a:solidFill>
                  <a:schemeClr val="accent1"/>
                </a:solidFill>
                <a:effectLst>
                  <a:outerShdw blurRad="38100" dist="25400" dir="5400000" algn="ctr" rotWithShape="0">
                    <a:srgbClr val="6E747A">
                      <a:alpha val="43000"/>
                    </a:srgbClr>
                  </a:outerShdw>
                </a:effectLst>
              </a:rPr>
              <a:t>4.Preprocessing and Feature Engineering </a:t>
            </a:r>
            <a:br>
              <a:rPr lang="en-US" dirty="0">
                <a:ln w="0"/>
                <a:solidFill>
                  <a:schemeClr val="accent1"/>
                </a:solidFill>
                <a:effectLst>
                  <a:outerShdw blurRad="38100" dist="25400" dir="5400000" algn="ctr" rotWithShape="0">
                    <a:srgbClr val="6E747A">
                      <a:alpha val="43000"/>
                    </a:srgbClr>
                  </a:outerShdw>
                </a:effectLst>
              </a:rPr>
            </a:br>
            <a:r>
              <a:rPr lang="en-US" dirty="0">
                <a:ln w="0"/>
                <a:solidFill>
                  <a:schemeClr val="accent1"/>
                </a:solidFill>
                <a:effectLst>
                  <a:outerShdw blurRad="38100" dist="25400" dir="5400000" algn="ctr" rotWithShape="0">
                    <a:srgbClr val="6E747A">
                      <a:alpha val="43000"/>
                    </a:srgbClr>
                  </a:outerShdw>
                </a:effectLst>
              </a:rPr>
              <a:t>5.Model Training and Evaluation </a:t>
            </a:r>
            <a:br>
              <a:rPr lang="en-US" dirty="0">
                <a:ln w="0"/>
                <a:solidFill>
                  <a:schemeClr val="accent1"/>
                </a:solidFill>
                <a:effectLst>
                  <a:outerShdw blurRad="38100" dist="25400" dir="5400000" algn="ctr" rotWithShape="0">
                    <a:srgbClr val="6E747A">
                      <a:alpha val="43000"/>
                    </a:srgbClr>
                  </a:outerShdw>
                </a:effectLst>
              </a:rPr>
            </a:br>
            <a:r>
              <a:rPr lang="en-US" dirty="0">
                <a:ln w="0"/>
                <a:solidFill>
                  <a:schemeClr val="accent1"/>
                </a:solidFill>
                <a:effectLst>
                  <a:outerShdw blurRad="38100" dist="25400" dir="5400000" algn="ctr" rotWithShape="0">
                    <a:srgbClr val="6E747A">
                      <a:alpha val="43000"/>
                    </a:srgbClr>
                  </a:outerShdw>
                </a:effectLst>
              </a:rPr>
              <a:t>6.Insights</a:t>
            </a:r>
            <a:br>
              <a:rPr lang="en-US" dirty="0">
                <a:ln w="0"/>
                <a:solidFill>
                  <a:schemeClr val="accent1"/>
                </a:solidFill>
                <a:effectLst>
                  <a:outerShdw blurRad="38100" dist="25400" dir="5400000" algn="ctr" rotWithShape="0">
                    <a:srgbClr val="6E747A">
                      <a:alpha val="43000"/>
                    </a:srgbClr>
                  </a:outerShdw>
                </a:effectLst>
              </a:rPr>
            </a:br>
            <a:r>
              <a:rPr lang="en-US" dirty="0">
                <a:ln w="0"/>
                <a:solidFill>
                  <a:schemeClr val="accent1"/>
                </a:solidFill>
                <a:effectLst>
                  <a:outerShdw blurRad="38100" dist="25400" dir="5400000" algn="ctr" rotWithShape="0">
                    <a:srgbClr val="6E747A">
                      <a:alpha val="43000"/>
                    </a:srgbClr>
                  </a:outerShdw>
                </a:effectLst>
              </a:rPr>
              <a:t>7.Conclusion</a:t>
            </a:r>
            <a:endParaRPr lang="en-IN"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E853F5-3FF5-F820-B593-B4F4AF27A2B6}"/>
              </a:ext>
            </a:extLst>
          </p:cNvPr>
          <p:cNvSpPr>
            <a:spLocks noGrp="1"/>
          </p:cNvSpPr>
          <p:nvPr>
            <p:ph type="title"/>
          </p:nvPr>
        </p:nvSpPr>
        <p:spPr>
          <a:xfrm>
            <a:off x="350111" y="151536"/>
            <a:ext cx="10834234" cy="61277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chemeClr val="accent2"/>
            </a:solidFill>
          </a:ln>
          <a:effectLst>
            <a:softEdge rad="0"/>
          </a:effectLst>
        </p:spPr>
        <p:txBody>
          <a:bodyPr/>
          <a:lstStyle/>
          <a:p>
            <a:r>
              <a:rPr lang="en-US" b="0" dirty="0" smtClean="0"/>
              <a:t>                                     </a:t>
            </a:r>
            <a:r>
              <a:rPr lang="en-US" b="0" dirty="0" smtClean="0">
                <a:effectLst>
                  <a:glow>
                    <a:schemeClr val="tx1"/>
                  </a:glow>
                </a:effectLst>
              </a:rPr>
              <a:t>Business </a:t>
            </a:r>
            <a:r>
              <a:rPr lang="en-US" b="0" dirty="0">
                <a:effectLst>
                  <a:glow>
                    <a:schemeClr val="tx1"/>
                  </a:glow>
                </a:effectLst>
              </a:rPr>
              <a:t>Context</a:t>
            </a:r>
            <a:endParaRPr lang="en-IN" b="0" dirty="0">
              <a:effectLst>
                <a:glow>
                  <a:schemeClr val="tx1"/>
                </a:glow>
              </a:effectLst>
            </a:endParaRPr>
          </a:p>
        </p:txBody>
      </p:sp>
      <p:sp>
        <p:nvSpPr>
          <p:cNvPr id="3" name="Content Placeholder 2">
            <a:extLst>
              <a:ext uri="{FF2B5EF4-FFF2-40B4-BE49-F238E27FC236}">
                <a16:creationId xmlns="" xmlns:a16="http://schemas.microsoft.com/office/drawing/2014/main" id="{5498D2CD-3F24-F46B-D0FD-F213BDB36EC1}"/>
              </a:ext>
            </a:extLst>
          </p:cNvPr>
          <p:cNvSpPr>
            <a:spLocks noGrp="1"/>
          </p:cNvSpPr>
          <p:nvPr>
            <p:ph idx="1"/>
          </p:nvPr>
        </p:nvSpPr>
        <p:spPr>
          <a:xfrm>
            <a:off x="422031" y="1442603"/>
            <a:ext cx="10834234" cy="1701289"/>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High attrition disrupts workflows and team stability.</a:t>
            </a:r>
          </a:p>
          <a:p>
            <a:pPr lvl="0"/>
            <a:r>
              <a:rPr lang="en-US" dirty="0"/>
              <a:t>Recruiting replacements is costly and time-consuming.</a:t>
            </a:r>
          </a:p>
          <a:p>
            <a:pPr lvl="0"/>
            <a:r>
              <a:rPr lang="en-US" dirty="0"/>
              <a:t>Retaining talent boosts productivity and morale.</a:t>
            </a:r>
          </a:p>
        </p:txBody>
      </p:sp>
      <p:sp>
        <p:nvSpPr>
          <p:cNvPr id="4" name="Title 1">
            <a:extLst>
              <a:ext uri="{FF2B5EF4-FFF2-40B4-BE49-F238E27FC236}">
                <a16:creationId xmlns="" xmlns:a16="http://schemas.microsoft.com/office/drawing/2014/main" id="{2CC53ACC-F443-477D-AB79-D369B7CB089C}"/>
              </a:ext>
            </a:extLst>
          </p:cNvPr>
          <p:cNvSpPr txBox="1">
            <a:spLocks/>
          </p:cNvSpPr>
          <p:nvPr/>
        </p:nvSpPr>
        <p:spPr>
          <a:xfrm>
            <a:off x="422031" y="829828"/>
            <a:ext cx="10834234"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sz="2800" b="0" dirty="0">
                <a:ln w="0"/>
                <a:solidFill>
                  <a:schemeClr val="accent1"/>
                </a:solidFill>
                <a:effectLst>
                  <a:outerShdw blurRad="38100" dist="25400" dir="5400000" algn="ctr" rotWithShape="0">
                    <a:srgbClr val="6E747A">
                      <a:alpha val="43000"/>
                    </a:srgbClr>
                  </a:outerShdw>
                </a:effectLst>
              </a:rPr>
              <a:t>Why This Matters</a:t>
            </a:r>
            <a:endParaRPr lang="en-IN" sz="2800" b="0" dirty="0">
              <a:ln w="0"/>
              <a:solidFill>
                <a:schemeClr val="accent1"/>
              </a:solidFill>
              <a:effectLst>
                <a:outerShdw blurRad="38100" dist="25400" dir="5400000" algn="ctr" rotWithShape="0">
                  <a:srgbClr val="6E747A">
                    <a:alpha val="43000"/>
                  </a:srgbClr>
                </a:outerShdw>
              </a:effectLst>
            </a:endParaRPr>
          </a:p>
        </p:txBody>
      </p:sp>
      <p:sp>
        <p:nvSpPr>
          <p:cNvPr id="5" name="Title 1">
            <a:extLst>
              <a:ext uri="{FF2B5EF4-FFF2-40B4-BE49-F238E27FC236}">
                <a16:creationId xmlns="" xmlns:a16="http://schemas.microsoft.com/office/drawing/2014/main" id="{B84755F1-0B67-4118-BCAA-C4866A001BCA}"/>
              </a:ext>
            </a:extLst>
          </p:cNvPr>
          <p:cNvSpPr txBox="1">
            <a:spLocks/>
          </p:cNvSpPr>
          <p:nvPr/>
        </p:nvSpPr>
        <p:spPr>
          <a:xfrm>
            <a:off x="422031" y="3143892"/>
            <a:ext cx="10834234"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sz="2800" b="0" dirty="0">
                <a:ln w="0"/>
                <a:solidFill>
                  <a:schemeClr val="accent1"/>
                </a:solidFill>
                <a:effectLst>
                  <a:outerShdw blurRad="38100" dist="25400" dir="5400000" algn="ctr" rotWithShape="0">
                    <a:srgbClr val="6E747A">
                      <a:alpha val="43000"/>
                    </a:srgbClr>
                  </a:outerShdw>
                </a:effectLst>
              </a:rPr>
              <a:t>Objective</a:t>
            </a:r>
            <a:endParaRPr lang="en-IN" sz="2800" b="0" dirty="0">
              <a:ln w="0"/>
              <a:solidFill>
                <a:schemeClr val="accent1"/>
              </a:solidFill>
              <a:effectLst>
                <a:outerShdw blurRad="38100" dist="25400" dir="5400000" algn="ctr" rotWithShape="0">
                  <a:srgbClr val="6E747A">
                    <a:alpha val="43000"/>
                  </a:srgbClr>
                </a:outerShdw>
              </a:effectLst>
            </a:endParaRPr>
          </a:p>
        </p:txBody>
      </p:sp>
      <p:sp>
        <p:nvSpPr>
          <p:cNvPr id="6" name="Content Placeholder 2">
            <a:extLst>
              <a:ext uri="{FF2B5EF4-FFF2-40B4-BE49-F238E27FC236}">
                <a16:creationId xmlns="" xmlns:a16="http://schemas.microsoft.com/office/drawing/2014/main" id="{D2489A00-629B-4B22-AC48-1C585B89302A}"/>
              </a:ext>
            </a:extLst>
          </p:cNvPr>
          <p:cNvSpPr txBox="1">
            <a:spLocks/>
          </p:cNvSpPr>
          <p:nvPr/>
        </p:nvSpPr>
        <p:spPr>
          <a:xfrm>
            <a:off x="422031" y="3756667"/>
            <a:ext cx="10834234" cy="1701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Predict employees likely to leave using machine learning. </a:t>
            </a:r>
          </a:p>
          <a:p>
            <a:r>
              <a:rPr lang="en-US" dirty="0"/>
              <a:t>Enable HR teams to optimize resource allocation. </a:t>
            </a:r>
          </a:p>
          <a:p>
            <a:r>
              <a:rPr lang="en-US" dirty="0"/>
              <a:t>Provides actionable insights for retention strategies.</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E853F5-3FF5-F820-B593-B4F4AF27A2B6}"/>
              </a:ext>
            </a:extLst>
          </p:cNvPr>
          <p:cNvSpPr>
            <a:spLocks noGrp="1"/>
          </p:cNvSpPr>
          <p:nvPr>
            <p:ph type="title"/>
          </p:nvPr>
        </p:nvSpPr>
        <p:spPr>
          <a:xfrm>
            <a:off x="350111" y="110440"/>
            <a:ext cx="10834234" cy="61277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chemeClr val="accent2"/>
            </a:solidFill>
          </a:ln>
        </p:spPr>
        <p:txBody>
          <a:bodyPr/>
          <a:lstStyle/>
          <a:p>
            <a:r>
              <a:rPr lang="en-US" dirty="0" smtClean="0"/>
              <a:t>                             Dataset </a:t>
            </a:r>
            <a:r>
              <a:rPr lang="en-US" dirty="0"/>
              <a:t>Overview</a:t>
            </a:r>
            <a:endParaRPr lang="en-IN" dirty="0"/>
          </a:p>
        </p:txBody>
      </p:sp>
      <p:sp>
        <p:nvSpPr>
          <p:cNvPr id="5" name="Title 1">
            <a:extLst>
              <a:ext uri="{FF2B5EF4-FFF2-40B4-BE49-F238E27FC236}">
                <a16:creationId xmlns="" xmlns:a16="http://schemas.microsoft.com/office/drawing/2014/main" id="{B84755F1-0B67-4118-BCAA-C4866A001BCA}"/>
              </a:ext>
            </a:extLst>
          </p:cNvPr>
          <p:cNvSpPr txBox="1">
            <a:spLocks/>
          </p:cNvSpPr>
          <p:nvPr/>
        </p:nvSpPr>
        <p:spPr>
          <a:xfrm>
            <a:off x="422031" y="3143892"/>
            <a:ext cx="2485556" cy="612775"/>
          </a:xfrm>
          <a:prstGeom prst="rect">
            <a:avLst/>
          </a:prstGeom>
          <a:noFill/>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sz="3200" b="0" dirty="0">
                <a:ln w="0"/>
                <a:solidFill>
                  <a:schemeClr val="accent1"/>
                </a:solidFill>
                <a:effectLst>
                  <a:outerShdw blurRad="38100" dist="25400" dir="5400000" algn="ctr" rotWithShape="0">
                    <a:srgbClr val="6E747A">
                      <a:alpha val="43000"/>
                    </a:srgbClr>
                  </a:outerShdw>
                </a:effectLst>
              </a:rPr>
              <a:t>Features</a:t>
            </a:r>
            <a:endParaRPr lang="en-IN" sz="3200" b="0" dirty="0">
              <a:ln w="0"/>
              <a:solidFill>
                <a:schemeClr val="accent1"/>
              </a:solidFill>
              <a:effectLst>
                <a:outerShdw blurRad="38100" dist="25400" dir="5400000" algn="ctr" rotWithShape="0">
                  <a:srgbClr val="6E747A">
                    <a:alpha val="43000"/>
                  </a:srgbClr>
                </a:outerShdw>
              </a:effectLst>
            </a:endParaRPr>
          </a:p>
        </p:txBody>
      </p:sp>
      <p:sp>
        <p:nvSpPr>
          <p:cNvPr id="6" name="Content Placeholder 2">
            <a:extLst>
              <a:ext uri="{FF2B5EF4-FFF2-40B4-BE49-F238E27FC236}">
                <a16:creationId xmlns="" xmlns:a16="http://schemas.microsoft.com/office/drawing/2014/main" id="{D2489A00-629B-4B22-AC48-1C585B89302A}"/>
              </a:ext>
            </a:extLst>
          </p:cNvPr>
          <p:cNvSpPr txBox="1">
            <a:spLocks/>
          </p:cNvSpPr>
          <p:nvPr/>
        </p:nvSpPr>
        <p:spPr>
          <a:xfrm>
            <a:off x="422029" y="3756668"/>
            <a:ext cx="8084973" cy="20098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n w="0"/>
                <a:solidFill>
                  <a:schemeClr val="accent1"/>
                </a:solidFill>
                <a:effectLst>
                  <a:outerShdw blurRad="38100" dist="25400" dir="5400000" algn="ctr" rotWithShape="0">
                    <a:srgbClr val="6E747A">
                      <a:alpha val="43000"/>
                    </a:srgbClr>
                  </a:outerShdw>
                </a:effectLst>
              </a:rPr>
              <a:t>Identification : </a:t>
            </a:r>
            <a:r>
              <a:rPr lang="en-US" sz="2000" dirty="0"/>
              <a:t>enrollee_id, city. </a:t>
            </a:r>
          </a:p>
          <a:p>
            <a:r>
              <a:rPr lang="en-US" sz="2000" dirty="0">
                <a:ln w="0"/>
                <a:solidFill>
                  <a:schemeClr val="accent1"/>
                </a:solidFill>
                <a:effectLst>
                  <a:outerShdw blurRad="38100" dist="25400" dir="5400000" algn="ctr" rotWithShape="0">
                    <a:srgbClr val="6E747A">
                      <a:alpha val="43000"/>
                    </a:srgbClr>
                  </a:outerShdw>
                </a:effectLst>
              </a:rPr>
              <a:t>Demographics : </a:t>
            </a:r>
            <a:r>
              <a:rPr lang="en-US" sz="2000" dirty="0"/>
              <a:t>gender, education, major_discipline.  </a:t>
            </a:r>
          </a:p>
          <a:p>
            <a:r>
              <a:rPr lang="en-US" sz="2000" dirty="0">
                <a:ln w="0"/>
                <a:solidFill>
                  <a:schemeClr val="accent1"/>
                </a:solidFill>
                <a:effectLst>
                  <a:outerShdw blurRad="38100" dist="25400" dir="5400000" algn="ctr" rotWithShape="0">
                    <a:srgbClr val="6E747A">
                      <a:alpha val="43000"/>
                    </a:srgbClr>
                  </a:outerShdw>
                </a:effectLst>
              </a:rPr>
              <a:t>Professional info : </a:t>
            </a:r>
            <a:r>
              <a:rPr lang="en-US" sz="2000" dirty="0"/>
              <a:t>experience, lat_new_job, company_type company_size.</a:t>
            </a:r>
          </a:p>
          <a:p>
            <a:r>
              <a:rPr lang="en-US" sz="2000" dirty="0">
                <a:ln w="0"/>
                <a:solidFill>
                  <a:schemeClr val="accent1"/>
                </a:solidFill>
                <a:effectLst>
                  <a:outerShdw blurRad="38100" dist="25400" dir="5400000" algn="ctr" rotWithShape="0">
                    <a:srgbClr val="6E747A">
                      <a:alpha val="43000"/>
                    </a:srgbClr>
                  </a:outerShdw>
                </a:effectLst>
              </a:rPr>
              <a:t>Job-Seeking Indicator : </a:t>
            </a:r>
            <a:r>
              <a:rPr lang="en-US" sz="2000" dirty="0"/>
              <a:t>target (0 = Not looking, 1 = Looking.)</a:t>
            </a:r>
          </a:p>
        </p:txBody>
      </p:sp>
      <p:graphicFrame>
        <p:nvGraphicFramePr>
          <p:cNvPr id="11" name="Table 10">
            <a:extLst>
              <a:ext uri="{FF2B5EF4-FFF2-40B4-BE49-F238E27FC236}">
                <a16:creationId xmlns="" xmlns:a16="http://schemas.microsoft.com/office/drawing/2014/main" id="{F102013A-78E2-4BE2-B0D2-90A71A73A566}"/>
              </a:ext>
            </a:extLst>
          </p:cNvPr>
          <p:cNvGraphicFramePr>
            <a:graphicFrameLocks noGrp="1"/>
          </p:cNvGraphicFramePr>
          <p:nvPr>
            <p:extLst>
              <p:ext uri="{D42A27DB-BD31-4B8C-83A1-F6EECF244321}">
                <p14:modId xmlns:p14="http://schemas.microsoft.com/office/powerpoint/2010/main" val="2187683735"/>
              </p:ext>
            </p:extLst>
          </p:nvPr>
        </p:nvGraphicFramePr>
        <p:xfrm>
          <a:off x="350111" y="1091454"/>
          <a:ext cx="7756200" cy="1209957"/>
        </p:xfrm>
        <a:graphic>
          <a:graphicData uri="http://schemas.openxmlformats.org/drawingml/2006/table">
            <a:tbl>
              <a:tblPr firstRow="1" bandRow="1">
                <a:tableStyleId>{9D7B26C5-4107-4FEC-AEDC-1716B250A1EF}</a:tableStyleId>
              </a:tblPr>
              <a:tblGrid>
                <a:gridCol w="1939050">
                  <a:extLst>
                    <a:ext uri="{9D8B030D-6E8A-4147-A177-3AD203B41FA5}">
                      <a16:colId xmlns="" xmlns:a16="http://schemas.microsoft.com/office/drawing/2014/main" val="2704604170"/>
                    </a:ext>
                  </a:extLst>
                </a:gridCol>
                <a:gridCol w="1939050">
                  <a:extLst>
                    <a:ext uri="{9D8B030D-6E8A-4147-A177-3AD203B41FA5}">
                      <a16:colId xmlns="" xmlns:a16="http://schemas.microsoft.com/office/drawing/2014/main" val="3968729962"/>
                    </a:ext>
                  </a:extLst>
                </a:gridCol>
                <a:gridCol w="1939050">
                  <a:extLst>
                    <a:ext uri="{9D8B030D-6E8A-4147-A177-3AD203B41FA5}">
                      <a16:colId xmlns="" xmlns:a16="http://schemas.microsoft.com/office/drawing/2014/main" val="2616720599"/>
                    </a:ext>
                  </a:extLst>
                </a:gridCol>
                <a:gridCol w="1939050">
                  <a:extLst>
                    <a:ext uri="{9D8B030D-6E8A-4147-A177-3AD203B41FA5}">
                      <a16:colId xmlns="" xmlns:a16="http://schemas.microsoft.com/office/drawing/2014/main" val="2427773382"/>
                    </a:ext>
                  </a:extLst>
                </a:gridCol>
              </a:tblGrid>
              <a:tr h="403319">
                <a:tc>
                  <a:txBody>
                    <a:bodyPr/>
                    <a:lstStyle/>
                    <a:p>
                      <a:r>
                        <a:rPr lang="en-US" dirty="0"/>
                        <a:t>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ROWS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COLUMNS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55418059"/>
                  </a:ext>
                </a:extLst>
              </a:tr>
              <a:tr h="403319">
                <a:tc>
                  <a:txBody>
                    <a:bodyPr/>
                    <a:lstStyle/>
                    <a:p>
                      <a:r>
                        <a:rPr lang="en-US" dirty="0"/>
                        <a:t>Train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19158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Model Training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88525810"/>
                  </a:ext>
                </a:extLst>
              </a:tr>
              <a:tr h="403319">
                <a:tc>
                  <a:txBody>
                    <a:bodyPr/>
                    <a:lstStyle/>
                    <a:p>
                      <a:r>
                        <a:rPr lang="en-US" dirty="0"/>
                        <a:t>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2129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Model Evaluation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86473594"/>
                  </a:ext>
                </a:extLst>
              </a:tr>
            </a:tbl>
          </a:graphicData>
        </a:graphic>
      </p:graphicFrame>
      <p:pic>
        <p:nvPicPr>
          <p:cNvPr id="4" name="Picture 3">
            <a:extLst>
              <a:ext uri="{FF2B5EF4-FFF2-40B4-BE49-F238E27FC236}">
                <a16:creationId xmlns="" xmlns:a16="http://schemas.microsoft.com/office/drawing/2014/main" id="{7A7D2548-AE6D-4D3A-AC61-3681E6AF69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0229" y="986972"/>
            <a:ext cx="3701142" cy="4644572"/>
          </a:xfrm>
          <a:prstGeom prst="rect">
            <a:avLst/>
          </a:prstGeom>
          <a:effectLst>
            <a:softEdge rad="31750"/>
          </a:effectLst>
        </p:spPr>
      </p:pic>
    </p:spTree>
    <p:extLst>
      <p:ext uri="{BB962C8B-B14F-4D97-AF65-F5344CB8AC3E}">
        <p14:creationId xmlns:p14="http://schemas.microsoft.com/office/powerpoint/2010/main" val="2827867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E853F5-3FF5-F820-B593-B4F4AF27A2B6}"/>
              </a:ext>
            </a:extLst>
          </p:cNvPr>
          <p:cNvSpPr>
            <a:spLocks noGrp="1"/>
          </p:cNvSpPr>
          <p:nvPr>
            <p:ph type="title"/>
          </p:nvPr>
        </p:nvSpPr>
        <p:spPr>
          <a:xfrm>
            <a:off x="350111" y="151536"/>
            <a:ext cx="10834234" cy="61277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chemeClr val="accent2"/>
            </a:solidFill>
          </a:ln>
        </p:spPr>
        <p:txBody>
          <a:bodyPr/>
          <a:lstStyle/>
          <a:p>
            <a:r>
              <a:rPr lang="en-IN" dirty="0" smtClean="0"/>
              <a:t>                      Exploratory </a:t>
            </a:r>
            <a:r>
              <a:rPr lang="en-IN" dirty="0"/>
              <a:t>Data Analysis (EDA)</a:t>
            </a:r>
          </a:p>
        </p:txBody>
      </p:sp>
      <p:sp>
        <p:nvSpPr>
          <p:cNvPr id="3" name="Content Placeholder 2">
            <a:extLst>
              <a:ext uri="{FF2B5EF4-FFF2-40B4-BE49-F238E27FC236}">
                <a16:creationId xmlns="" xmlns:a16="http://schemas.microsoft.com/office/drawing/2014/main" id="{5498D2CD-3F24-F46B-D0FD-F213BDB36EC1}"/>
              </a:ext>
            </a:extLst>
          </p:cNvPr>
          <p:cNvSpPr>
            <a:spLocks noGrp="1"/>
          </p:cNvSpPr>
          <p:nvPr>
            <p:ph idx="1"/>
          </p:nvPr>
        </p:nvSpPr>
        <p:spPr>
          <a:xfrm>
            <a:off x="422031" y="784860"/>
            <a:ext cx="10834234" cy="1516552"/>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600" dirty="0">
                <a:ln w="0"/>
                <a:solidFill>
                  <a:schemeClr val="accent1"/>
                </a:solidFill>
                <a:effectLst>
                  <a:outerShdw blurRad="38100" dist="25400" dir="5400000" algn="ctr" rotWithShape="0">
                    <a:srgbClr val="6E747A">
                      <a:alpha val="43000"/>
                    </a:srgbClr>
                  </a:outerShdw>
                </a:effectLst>
              </a:rPr>
              <a:t>City Index: </a:t>
            </a:r>
            <a:r>
              <a:rPr lang="en-US" sz="2600" dirty="0"/>
              <a:t>Lower city development index links to higher attrition.</a:t>
            </a:r>
          </a:p>
          <a:p>
            <a:pPr lvl="0"/>
            <a:r>
              <a:rPr lang="en-US" sz="2600" dirty="0">
                <a:ln w="0"/>
                <a:solidFill>
                  <a:schemeClr val="accent1"/>
                </a:solidFill>
                <a:effectLst>
                  <a:outerShdw blurRad="38100" dist="25400" dir="5400000" algn="ctr" rotWithShape="0">
                    <a:srgbClr val="6E747A">
                      <a:alpha val="43000"/>
                    </a:srgbClr>
                  </a:outerShdw>
                </a:effectLst>
              </a:rPr>
              <a:t>Training Hours: </a:t>
            </a:r>
            <a:r>
              <a:rPr lang="en-US" sz="2600" dirty="0"/>
              <a:t>Fewer training hours increase attrition risk.</a:t>
            </a:r>
          </a:p>
          <a:p>
            <a:pPr lvl="0"/>
            <a:r>
              <a:rPr lang="en-US" sz="2600" dirty="0">
                <a:ln w="0"/>
                <a:solidFill>
                  <a:schemeClr val="accent1"/>
                </a:solidFill>
                <a:effectLst>
                  <a:outerShdw blurRad="38100" dist="25400" dir="5400000" algn="ctr" rotWithShape="0">
                    <a:srgbClr val="6E747A">
                      <a:alpha val="43000"/>
                    </a:srgbClr>
                  </a:outerShdw>
                </a:effectLst>
              </a:rPr>
              <a:t>Demographics: </a:t>
            </a:r>
            <a:r>
              <a:rPr lang="en-US" sz="2600" dirty="0"/>
              <a:t>Younger employees show higher attrition rates.</a:t>
            </a:r>
          </a:p>
        </p:txBody>
      </p:sp>
    </p:spTree>
    <p:extLst>
      <p:ext uri="{BB962C8B-B14F-4D97-AF65-F5344CB8AC3E}">
        <p14:creationId xmlns:p14="http://schemas.microsoft.com/office/powerpoint/2010/main" val="130646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C5BA2E58-FEC9-D54D-ACC0-E7CEEF5F42E4}"/>
              </a:ext>
            </a:extLst>
          </p:cNvPr>
          <p:cNvSpPr>
            <a:spLocks noGrp="1"/>
          </p:cNvSpPr>
          <p:nvPr>
            <p:ph type="title"/>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chemeClr val="accent2"/>
            </a:solidFill>
          </a:ln>
        </p:spPr>
        <p:txBody>
          <a:bodyPr>
            <a:normAutofit/>
          </a:bodyPr>
          <a:lstStyle/>
          <a:p>
            <a:r>
              <a:rPr lang="en-US" dirty="0" smtClean="0"/>
              <a:t>                  Preprocessing </a:t>
            </a:r>
            <a:r>
              <a:rPr lang="en-US" dirty="0"/>
              <a:t>and Feature Engineering</a:t>
            </a:r>
          </a:p>
        </p:txBody>
      </p:sp>
      <p:sp>
        <p:nvSpPr>
          <p:cNvPr id="5" name="Content Placeholder 4">
            <a:extLst>
              <a:ext uri="{FF2B5EF4-FFF2-40B4-BE49-F238E27FC236}">
                <a16:creationId xmlns="" xmlns:a16="http://schemas.microsoft.com/office/drawing/2014/main" id="{31DCCDC2-0E13-4FBA-AB0A-B69D17F4271B}"/>
              </a:ext>
            </a:extLst>
          </p:cNvPr>
          <p:cNvSpPr>
            <a:spLocks noGrp="1"/>
          </p:cNvSpPr>
          <p:nvPr>
            <p:ph idx="1"/>
          </p:nvPr>
        </p:nvSpPr>
        <p:spPr/>
        <p:txBody>
          <a:bodyPr>
            <a:normAutofit/>
          </a:bodyPr>
          <a:lstStyle/>
          <a:p>
            <a:r>
              <a:rPr lang="en-US" sz="2400" dirty="0">
                <a:ln w="0"/>
                <a:solidFill>
                  <a:schemeClr val="accent1"/>
                </a:solidFill>
                <a:effectLst>
                  <a:outerShdw blurRad="38100" dist="25400" dir="5400000" algn="ctr" rotWithShape="0">
                    <a:srgbClr val="6E747A">
                      <a:alpha val="43000"/>
                    </a:srgbClr>
                  </a:outerShdw>
                </a:effectLst>
              </a:rPr>
              <a:t>Data Standardization: </a:t>
            </a:r>
            <a:r>
              <a:rPr lang="en-US" sz="2400" dirty="0"/>
              <a:t>Applied manual replacement and string manipulation.</a:t>
            </a:r>
          </a:p>
          <a:p>
            <a:r>
              <a:rPr lang="en-US" sz="2400" dirty="0">
                <a:ln w="0"/>
                <a:solidFill>
                  <a:schemeClr val="accent1"/>
                </a:solidFill>
                <a:effectLst>
                  <a:outerShdw blurRad="38100" dist="25400" dir="5400000" algn="ctr" rotWithShape="0">
                    <a:srgbClr val="6E747A">
                      <a:alpha val="43000"/>
                    </a:srgbClr>
                  </a:outerShdw>
                </a:effectLst>
              </a:rPr>
              <a:t>Handling Missing Data: </a:t>
            </a:r>
            <a:r>
              <a:rPr lang="en-US" sz="2400" dirty="0"/>
              <a:t>Used statistical imputation (mode and mean).</a:t>
            </a:r>
          </a:p>
          <a:p>
            <a:r>
              <a:rPr lang="en-US" sz="2400" dirty="0">
                <a:ln w="0"/>
                <a:solidFill>
                  <a:schemeClr val="accent1"/>
                </a:solidFill>
                <a:effectLst>
                  <a:outerShdw blurRad="38100" dist="25400" dir="5400000" algn="ctr" rotWithShape="0">
                    <a:srgbClr val="6E747A">
                      <a:alpha val="43000"/>
                    </a:srgbClr>
                  </a:outerShdw>
                </a:effectLst>
              </a:rPr>
              <a:t>Text Clearing: </a:t>
            </a:r>
            <a:r>
              <a:rPr lang="en-US" sz="2400" dirty="0"/>
              <a:t>Used string operations (replace) for cleaning text columns.</a:t>
            </a:r>
          </a:p>
          <a:p>
            <a:r>
              <a:rPr lang="en-US" sz="2400" dirty="0">
                <a:ln w="0"/>
                <a:solidFill>
                  <a:schemeClr val="accent1"/>
                </a:solidFill>
                <a:effectLst>
                  <a:outerShdw blurRad="38100" dist="25400" dir="5400000" algn="ctr" rotWithShape="0">
                    <a:srgbClr val="6E747A">
                      <a:alpha val="43000"/>
                    </a:srgbClr>
                  </a:outerShdw>
                </a:effectLst>
              </a:rPr>
              <a:t>Categorical Encoding: </a:t>
            </a:r>
            <a:r>
              <a:rPr lang="en-US" sz="2400" dirty="0"/>
              <a:t>Used Label Encoding.</a:t>
            </a:r>
          </a:p>
          <a:p>
            <a:r>
              <a:rPr lang="en-US" sz="2400" dirty="0">
                <a:ln w="0"/>
                <a:solidFill>
                  <a:schemeClr val="accent1"/>
                </a:solidFill>
                <a:effectLst>
                  <a:outerShdw blurRad="38100" dist="25400" dir="5400000" algn="ctr" rotWithShape="0">
                    <a:srgbClr val="6E747A">
                      <a:alpha val="43000"/>
                    </a:srgbClr>
                  </a:outerShdw>
                </a:effectLst>
              </a:rPr>
              <a:t>Features Transformation: </a:t>
            </a:r>
            <a:r>
              <a:rPr lang="en-US" sz="2400" dirty="0"/>
              <a:t>Converted ranges into numeric features using split and pd.to_numeric.</a:t>
            </a:r>
          </a:p>
          <a:p>
            <a:r>
              <a:rPr lang="en-US" sz="2400" dirty="0">
                <a:ln w="0"/>
                <a:solidFill>
                  <a:schemeClr val="accent1"/>
                </a:solidFill>
                <a:effectLst>
                  <a:outerShdw blurRad="38100" dist="25400" dir="5400000" algn="ctr" rotWithShape="0">
                    <a:srgbClr val="6E747A">
                      <a:alpha val="43000"/>
                    </a:srgbClr>
                  </a:outerShdw>
                </a:effectLst>
              </a:rPr>
              <a:t>New features: </a:t>
            </a:r>
            <a:r>
              <a:rPr lang="en-US" sz="2400" dirty="0"/>
              <a:t>Created a new feature named ‘experience_level’.</a:t>
            </a:r>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E853F5-3FF5-F820-B593-B4F4AF27A2B6}"/>
              </a:ext>
            </a:extLst>
          </p:cNvPr>
          <p:cNvSpPr>
            <a:spLocks noGrp="1"/>
          </p:cNvSpPr>
          <p:nvPr>
            <p:ph type="title"/>
          </p:nvPr>
        </p:nvSpPr>
        <p:spPr>
          <a:xfrm>
            <a:off x="350111" y="217053"/>
            <a:ext cx="6050689" cy="61277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chemeClr val="accent2"/>
            </a:solidFill>
          </a:ln>
        </p:spPr>
        <p:txBody>
          <a:bodyPr/>
          <a:lstStyle/>
          <a:p>
            <a:r>
              <a:rPr lang="en-US" dirty="0"/>
              <a:t>Model training and Evaluation</a:t>
            </a:r>
            <a:endParaRPr lang="en-IN" dirty="0"/>
          </a:p>
        </p:txBody>
      </p:sp>
      <p:sp>
        <p:nvSpPr>
          <p:cNvPr id="3" name="Content Placeholder 2">
            <a:extLst>
              <a:ext uri="{FF2B5EF4-FFF2-40B4-BE49-F238E27FC236}">
                <a16:creationId xmlns="" xmlns:a16="http://schemas.microsoft.com/office/drawing/2014/main" id="{5498D2CD-3F24-F46B-D0FD-F213BDB36EC1}"/>
              </a:ext>
            </a:extLst>
          </p:cNvPr>
          <p:cNvSpPr>
            <a:spLocks noGrp="1"/>
          </p:cNvSpPr>
          <p:nvPr>
            <p:ph idx="1"/>
          </p:nvPr>
        </p:nvSpPr>
        <p:spPr>
          <a:xfrm>
            <a:off x="637788" y="1378200"/>
            <a:ext cx="3893115" cy="1701289"/>
          </a:xfrm>
          <a:prstGeom prst="rect">
            <a:avLst/>
          </a:prstGeom>
        </p:spPr>
        <p:txBody>
          <a:bodyPr>
            <a:normAutofit lnSpcReduction="1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400" dirty="0"/>
              <a:t>Logistic Regression.</a:t>
            </a:r>
          </a:p>
          <a:p>
            <a:pPr lvl="0"/>
            <a:r>
              <a:rPr lang="en-US" sz="2400" dirty="0"/>
              <a:t>Random Forest.</a:t>
            </a:r>
          </a:p>
          <a:p>
            <a:pPr lvl="0"/>
            <a:r>
              <a:rPr lang="en-US" sz="2400" dirty="0"/>
              <a:t>XGBoost.</a:t>
            </a:r>
          </a:p>
          <a:p>
            <a:pPr lvl="0"/>
            <a:r>
              <a:rPr lang="en-US" sz="2400" dirty="0"/>
              <a:t>LightGBM</a:t>
            </a:r>
          </a:p>
          <a:p>
            <a:pPr lvl="0"/>
            <a:endParaRPr lang="en-US" sz="2400" dirty="0"/>
          </a:p>
        </p:txBody>
      </p:sp>
      <p:sp>
        <p:nvSpPr>
          <p:cNvPr id="4" name="Title 1">
            <a:extLst>
              <a:ext uri="{FF2B5EF4-FFF2-40B4-BE49-F238E27FC236}">
                <a16:creationId xmlns="" xmlns:a16="http://schemas.microsoft.com/office/drawing/2014/main" id="{2CC53ACC-F443-477D-AB79-D369B7CB089C}"/>
              </a:ext>
            </a:extLst>
          </p:cNvPr>
          <p:cNvSpPr txBox="1">
            <a:spLocks/>
          </p:cNvSpPr>
          <p:nvPr/>
        </p:nvSpPr>
        <p:spPr>
          <a:xfrm>
            <a:off x="422031" y="943483"/>
            <a:ext cx="3389681" cy="43471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sz="2800" b="0" dirty="0"/>
              <a:t>MODEL TRAINING</a:t>
            </a:r>
            <a:endParaRPr lang="en-IN" sz="2800" b="0" dirty="0"/>
          </a:p>
        </p:txBody>
      </p:sp>
      <p:sp>
        <p:nvSpPr>
          <p:cNvPr id="5" name="Title 1">
            <a:extLst>
              <a:ext uri="{FF2B5EF4-FFF2-40B4-BE49-F238E27FC236}">
                <a16:creationId xmlns="" xmlns:a16="http://schemas.microsoft.com/office/drawing/2014/main" id="{B84755F1-0B67-4118-BCAA-C4866A001BCA}"/>
              </a:ext>
            </a:extLst>
          </p:cNvPr>
          <p:cNvSpPr txBox="1">
            <a:spLocks/>
          </p:cNvSpPr>
          <p:nvPr/>
        </p:nvSpPr>
        <p:spPr>
          <a:xfrm>
            <a:off x="422030" y="3193144"/>
            <a:ext cx="3389681" cy="65587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sz="2800" b="0" dirty="0">
                <a:effectLst>
                  <a:glow>
                    <a:schemeClr val="tx1">
                      <a:alpha val="40000"/>
                    </a:schemeClr>
                  </a:glow>
                </a:effectLst>
              </a:rPr>
              <a:t>MODEL EVALUATION</a:t>
            </a:r>
            <a:endParaRPr lang="en-IN" sz="2800" b="0" dirty="0">
              <a:effectLst>
                <a:glow>
                  <a:schemeClr val="tx1">
                    <a:alpha val="40000"/>
                  </a:schemeClr>
                </a:glow>
              </a:effectLst>
            </a:endParaRPr>
          </a:p>
        </p:txBody>
      </p:sp>
      <p:sp>
        <p:nvSpPr>
          <p:cNvPr id="6" name="Content Placeholder 2">
            <a:extLst>
              <a:ext uri="{FF2B5EF4-FFF2-40B4-BE49-F238E27FC236}">
                <a16:creationId xmlns="" xmlns:a16="http://schemas.microsoft.com/office/drawing/2014/main" id="{D2489A00-629B-4B22-AC48-1C585B89302A}"/>
              </a:ext>
            </a:extLst>
          </p:cNvPr>
          <p:cNvSpPr txBox="1">
            <a:spLocks/>
          </p:cNvSpPr>
          <p:nvPr/>
        </p:nvSpPr>
        <p:spPr>
          <a:xfrm>
            <a:off x="637788" y="3849021"/>
            <a:ext cx="5084918" cy="221867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Accuracy</a:t>
            </a:r>
          </a:p>
          <a:p>
            <a:r>
              <a:rPr lang="en-US" sz="2400" dirty="0"/>
              <a:t>ROC-AUC</a:t>
            </a:r>
          </a:p>
          <a:p>
            <a:r>
              <a:rPr lang="en-US" sz="2400" dirty="0"/>
              <a:t>Precision</a:t>
            </a:r>
          </a:p>
          <a:p>
            <a:r>
              <a:rPr lang="en-US" sz="2400" dirty="0"/>
              <a:t>Recall</a:t>
            </a:r>
          </a:p>
          <a:p>
            <a:r>
              <a:rPr lang="en-US" sz="2400" dirty="0"/>
              <a:t>F1-Score</a:t>
            </a:r>
          </a:p>
          <a:p>
            <a:r>
              <a:rPr lang="en-US" sz="2400" dirty="0"/>
              <a:t>Confusion Matrix</a:t>
            </a:r>
          </a:p>
        </p:txBody>
      </p:sp>
      <p:sp>
        <p:nvSpPr>
          <p:cNvPr id="9" name="Content Placeholder 2">
            <a:extLst>
              <a:ext uri="{FF2B5EF4-FFF2-40B4-BE49-F238E27FC236}">
                <a16:creationId xmlns="" xmlns:a16="http://schemas.microsoft.com/office/drawing/2014/main" id="{919CF97C-4C21-40FE-B57F-276703924FB8}"/>
              </a:ext>
            </a:extLst>
          </p:cNvPr>
          <p:cNvSpPr txBox="1">
            <a:spLocks/>
          </p:cNvSpPr>
          <p:nvPr/>
        </p:nvSpPr>
        <p:spPr>
          <a:xfrm>
            <a:off x="7006053" y="3498484"/>
            <a:ext cx="4994163" cy="25692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latin typeface="Consolas" panose="020B0609020204030204" pitchFamily="49" charset="0"/>
                <a:ea typeface="Segoe UI Symbol" panose="020B0502040204020203" pitchFamily="34" charset="0"/>
              </a:rPr>
              <a:t>Best Performing Model:</a:t>
            </a:r>
            <a:br>
              <a:rPr lang="en-US" sz="2200" dirty="0">
                <a:latin typeface="Consolas" panose="020B0609020204030204" pitchFamily="49" charset="0"/>
                <a:ea typeface="Segoe UI Symbol" panose="020B0502040204020203" pitchFamily="34" charset="0"/>
              </a:rPr>
            </a:br>
            <a:r>
              <a:rPr lang="en-US" sz="2200" dirty="0">
                <a:latin typeface="Consolas" panose="020B0609020204030204" pitchFamily="49" charset="0"/>
                <a:ea typeface="Segoe UI Symbol" panose="020B0502040204020203" pitchFamily="34" charset="0"/>
              </a:rPr>
              <a:t>Model: LightGBM</a:t>
            </a:r>
            <a:br>
              <a:rPr lang="en-US" sz="2200" dirty="0">
                <a:latin typeface="Consolas" panose="020B0609020204030204" pitchFamily="49" charset="0"/>
                <a:ea typeface="Segoe UI Symbol" panose="020B0502040204020203" pitchFamily="34" charset="0"/>
              </a:rPr>
            </a:br>
            <a:r>
              <a:rPr lang="en-US" sz="2200" dirty="0">
                <a:latin typeface="Consolas" panose="020B0609020204030204" pitchFamily="49" charset="0"/>
                <a:ea typeface="Segoe UI Symbol" panose="020B0502040204020203" pitchFamily="34" charset="0"/>
              </a:rPr>
              <a:t>Accuracy: </a:t>
            </a:r>
            <a:r>
              <a:rPr lang="fi-FI" sz="2400" dirty="0"/>
              <a:t>0.795146 </a:t>
            </a:r>
            <a:r>
              <a:rPr lang="en-US" sz="2200" dirty="0">
                <a:latin typeface="Consolas" panose="020B0609020204030204" pitchFamily="49" charset="0"/>
                <a:ea typeface="Segoe UI Symbol" panose="020B0502040204020203" pitchFamily="34" charset="0"/>
              </a:rPr>
              <a:t/>
            </a:r>
            <a:br>
              <a:rPr lang="en-US" sz="2200" dirty="0">
                <a:latin typeface="Consolas" panose="020B0609020204030204" pitchFamily="49" charset="0"/>
                <a:ea typeface="Segoe UI Symbol" panose="020B0502040204020203" pitchFamily="34" charset="0"/>
              </a:rPr>
            </a:br>
            <a:r>
              <a:rPr lang="en-US" sz="2200" dirty="0">
                <a:latin typeface="Consolas" panose="020B0609020204030204" pitchFamily="49" charset="0"/>
                <a:ea typeface="Segoe UI Symbol" panose="020B0502040204020203" pitchFamily="34" charset="0"/>
              </a:rPr>
              <a:t>ROC-AUC: </a:t>
            </a:r>
            <a:r>
              <a:rPr lang="cs-CZ" sz="2400" dirty="0"/>
              <a:t>0.814989 </a:t>
            </a:r>
            <a:r>
              <a:rPr lang="en-US" sz="2200" dirty="0">
                <a:latin typeface="Consolas" panose="020B0609020204030204" pitchFamily="49" charset="0"/>
                <a:ea typeface="Segoe UI Symbol" panose="020B0502040204020203" pitchFamily="34" charset="0"/>
              </a:rPr>
              <a:t/>
            </a:r>
            <a:br>
              <a:rPr lang="en-US" sz="2200" dirty="0">
                <a:latin typeface="Consolas" panose="020B0609020204030204" pitchFamily="49" charset="0"/>
                <a:ea typeface="Segoe UI Symbol" panose="020B0502040204020203" pitchFamily="34" charset="0"/>
              </a:rPr>
            </a:br>
            <a:r>
              <a:rPr lang="en-US" sz="2200" dirty="0">
                <a:latin typeface="Consolas" panose="020B0609020204030204" pitchFamily="49" charset="0"/>
                <a:ea typeface="Segoe UI Symbol" panose="020B0502040204020203" pitchFamily="34" charset="0"/>
              </a:rPr>
              <a:t>Precision: </a:t>
            </a:r>
            <a:r>
              <a:rPr lang="fi-FI" sz="2400" dirty="0"/>
              <a:t>0.795146 </a:t>
            </a:r>
            <a:r>
              <a:rPr lang="en-US" sz="2200" dirty="0">
                <a:latin typeface="Consolas" panose="020B0609020204030204" pitchFamily="49" charset="0"/>
                <a:ea typeface="Segoe UI Symbol" panose="020B0502040204020203" pitchFamily="34" charset="0"/>
              </a:rPr>
              <a:t/>
            </a:r>
            <a:br>
              <a:rPr lang="en-US" sz="2200" dirty="0">
                <a:latin typeface="Consolas" panose="020B0609020204030204" pitchFamily="49" charset="0"/>
                <a:ea typeface="Segoe UI Symbol" panose="020B0502040204020203" pitchFamily="34" charset="0"/>
              </a:rPr>
            </a:br>
            <a:r>
              <a:rPr lang="en-US" sz="2200" dirty="0">
                <a:latin typeface="Consolas" panose="020B0609020204030204" pitchFamily="49" charset="0"/>
                <a:ea typeface="Segoe UI Symbol" panose="020B0502040204020203" pitchFamily="34" charset="0"/>
              </a:rPr>
              <a:t>Recall: </a:t>
            </a:r>
            <a:r>
              <a:rPr lang="is-IS" sz="2400" dirty="0"/>
              <a:t>0.630588 </a:t>
            </a:r>
            <a:r>
              <a:rPr lang="en-US" sz="2200" dirty="0">
                <a:latin typeface="Consolas" panose="020B0609020204030204" pitchFamily="49" charset="0"/>
                <a:ea typeface="Segoe UI Symbol" panose="020B0502040204020203" pitchFamily="34" charset="0"/>
              </a:rPr>
              <a:t/>
            </a:r>
            <a:br>
              <a:rPr lang="en-US" sz="2200" dirty="0">
                <a:latin typeface="Consolas" panose="020B0609020204030204" pitchFamily="49" charset="0"/>
                <a:ea typeface="Segoe UI Symbol" panose="020B0502040204020203" pitchFamily="34" charset="0"/>
              </a:rPr>
            </a:br>
            <a:r>
              <a:rPr lang="en-US" sz="2200" dirty="0">
                <a:latin typeface="Consolas" panose="020B0609020204030204" pitchFamily="49" charset="0"/>
                <a:ea typeface="Segoe UI Symbol" panose="020B0502040204020203" pitchFamily="34" charset="0"/>
              </a:rPr>
              <a:t>F1-Score: </a:t>
            </a:r>
            <a:r>
              <a:rPr lang="is-IS" sz="2400" dirty="0"/>
              <a:t>0.630588</a:t>
            </a:r>
            <a:endParaRPr lang="en-US" sz="2200" dirty="0">
              <a:latin typeface="Consolas" panose="020B0609020204030204" pitchFamily="49" charset="0"/>
              <a:ea typeface="Segoe UI Symbol" panose="020B0502040204020203" pitchFamily="34" charset="0"/>
            </a:endParaRPr>
          </a:p>
        </p:txBody>
      </p:sp>
      <p:pic>
        <p:nvPicPr>
          <p:cNvPr id="13" name="Picture 12"/>
          <p:cNvPicPr>
            <a:picLocks noChangeAspect="1"/>
          </p:cNvPicPr>
          <p:nvPr/>
        </p:nvPicPr>
        <p:blipFill>
          <a:blip r:embed="rId2"/>
          <a:stretch>
            <a:fillRect/>
          </a:stretch>
        </p:blipFill>
        <p:spPr>
          <a:xfrm>
            <a:off x="7006052" y="101601"/>
            <a:ext cx="4250213" cy="3396884"/>
          </a:xfrm>
          <a:prstGeom prst="rect">
            <a:avLst/>
          </a:prstGeom>
        </p:spPr>
      </p:pic>
    </p:spTree>
    <p:extLst>
      <p:ext uri="{BB962C8B-B14F-4D97-AF65-F5344CB8AC3E}">
        <p14:creationId xmlns:p14="http://schemas.microsoft.com/office/powerpoint/2010/main" val="103741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38B360-A630-EE21-210D-844E85048949}"/>
              </a:ext>
            </a:extLst>
          </p:cNvPr>
          <p:cNvSpPr>
            <a:spLocks noGrp="1"/>
          </p:cNvSpPr>
          <p:nvPr>
            <p:ph type="title"/>
          </p:nvPr>
        </p:nvSpPr>
        <p:spPr>
          <a:xfrm>
            <a:off x="185724" y="254344"/>
            <a:ext cx="10834234" cy="61277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solidFill>
              <a:schemeClr val="accent2"/>
            </a:solidFill>
          </a:ln>
        </p:spPr>
        <p:txBody>
          <a:bodyPr/>
          <a:lstStyle/>
          <a:p>
            <a:r>
              <a:rPr lang="en-US" dirty="0" smtClean="0"/>
              <a:t>                                            Insights</a:t>
            </a:r>
            <a:r>
              <a:rPr lang="mr-IN" dirty="0" smtClean="0"/>
              <a:t>…</a:t>
            </a:r>
            <a:endParaRPr lang="en-IN" dirty="0"/>
          </a:p>
        </p:txBody>
      </p:sp>
      <p:sp>
        <p:nvSpPr>
          <p:cNvPr id="3" name="Content Placeholder 2">
            <a:extLst>
              <a:ext uri="{FF2B5EF4-FFF2-40B4-BE49-F238E27FC236}">
                <a16:creationId xmlns="" xmlns:a16="http://schemas.microsoft.com/office/drawing/2014/main" id="{67B003C9-103A-47E6-D7EB-87D0A8CB5431}"/>
              </a:ext>
            </a:extLst>
          </p:cNvPr>
          <p:cNvSpPr>
            <a:spLocks noGrp="1"/>
          </p:cNvSpPr>
          <p:nvPr>
            <p:ph idx="1"/>
          </p:nvPr>
        </p:nvSpPr>
        <p:spPr>
          <a:xfrm>
            <a:off x="363415" y="1523337"/>
            <a:ext cx="11465170" cy="3811326"/>
          </a:xfrm>
        </p:spPr>
        <p:txBody>
          <a:bodyPr>
            <a:normAutofit/>
          </a:bodyPr>
          <a:lstStyle/>
          <a:p>
            <a:r>
              <a:rPr lang="en-IN" sz="2200" dirty="0">
                <a:ln w="0"/>
                <a:solidFill>
                  <a:schemeClr val="accent1"/>
                </a:solidFill>
                <a:effectLst>
                  <a:outerShdw blurRad="38100" dist="25400" dir="5400000" algn="ctr" rotWithShape="0">
                    <a:srgbClr val="6E747A">
                      <a:alpha val="43000"/>
                    </a:srgbClr>
                  </a:outerShdw>
                </a:effectLst>
              </a:rPr>
              <a:t>Training Hours: </a:t>
            </a:r>
            <a:r>
              <a:rPr lang="en-IN" sz="2200" dirty="0"/>
              <a:t>Employees with fewer training hours are more likely to leave.</a:t>
            </a:r>
          </a:p>
          <a:p>
            <a:r>
              <a:rPr lang="en-IN" sz="2200" dirty="0">
                <a:ln w="0"/>
                <a:solidFill>
                  <a:schemeClr val="accent1"/>
                </a:solidFill>
                <a:effectLst>
                  <a:outerShdw blurRad="38100" dist="25400" dir="5400000" algn="ctr" rotWithShape="0">
                    <a:srgbClr val="6E747A">
                      <a:alpha val="43000"/>
                    </a:srgbClr>
                  </a:outerShdw>
                </a:effectLst>
              </a:rPr>
              <a:t>City Development Index: </a:t>
            </a:r>
            <a:r>
              <a:rPr lang="en-IN" sz="2200" dirty="0"/>
              <a:t>Attrition is higher among employees in cities with a lower development index (e.g., ≤0.5).</a:t>
            </a:r>
          </a:p>
          <a:p>
            <a:r>
              <a:rPr lang="en-IN" sz="2200" dirty="0">
                <a:ln w="0"/>
                <a:solidFill>
                  <a:schemeClr val="accent1"/>
                </a:solidFill>
                <a:effectLst>
                  <a:outerShdw blurRad="38100" dist="25400" dir="5400000" algn="ctr" rotWithShape="0">
                    <a:srgbClr val="6E747A">
                      <a:alpha val="43000"/>
                    </a:srgbClr>
                  </a:outerShdw>
                </a:effectLst>
              </a:rPr>
              <a:t>Relevant Experience: </a:t>
            </a:r>
            <a:r>
              <a:rPr lang="en-IN" sz="2200" dirty="0"/>
              <a:t>Employees with relevant experience show a higher likelihood of attrition.</a:t>
            </a:r>
          </a:p>
          <a:p>
            <a:r>
              <a:rPr lang="en-IN" sz="2200" dirty="0">
                <a:ln w="0"/>
                <a:solidFill>
                  <a:schemeClr val="accent1"/>
                </a:solidFill>
                <a:effectLst>
                  <a:outerShdw blurRad="38100" dist="25400" dir="5400000" algn="ctr" rotWithShape="0">
                    <a:srgbClr val="6E747A">
                      <a:alpha val="43000"/>
                    </a:srgbClr>
                  </a:outerShdw>
                </a:effectLst>
              </a:rPr>
              <a:t>Company Size: </a:t>
            </a:r>
            <a:r>
              <a:rPr lang="en-IN" sz="2200" dirty="0"/>
              <a:t>Smaller companies (e.g., company size ≤10 employees) tend to have higher attrition rates.</a:t>
            </a:r>
          </a:p>
          <a:p>
            <a:r>
              <a:rPr lang="en-IN" sz="2200" dirty="0">
                <a:ln w="0"/>
                <a:solidFill>
                  <a:schemeClr val="accent1"/>
                </a:solidFill>
                <a:effectLst>
                  <a:outerShdw blurRad="38100" dist="25400" dir="5400000" algn="ctr" rotWithShape="0">
                    <a:srgbClr val="6E747A">
                      <a:alpha val="43000"/>
                    </a:srgbClr>
                  </a:outerShdw>
                </a:effectLst>
              </a:rPr>
              <a:t>Enrolled University: </a:t>
            </a:r>
            <a:r>
              <a:rPr lang="en-IN" sz="2200" dirty="0"/>
              <a:t>Employees not pursuing higher education may feel less engaged and are at greater risk of leaving.</a:t>
            </a:r>
          </a:p>
        </p:txBody>
      </p:sp>
    </p:spTree>
    <p:extLst>
      <p:ext uri="{BB962C8B-B14F-4D97-AF65-F5344CB8AC3E}">
        <p14:creationId xmlns:p14="http://schemas.microsoft.com/office/powerpoint/2010/main" val="3992449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38B360-A630-EE21-210D-844E85048949}"/>
              </a:ext>
            </a:extLst>
          </p:cNvPr>
          <p:cNvSpPr>
            <a:spLocks noGrp="1"/>
          </p:cNvSpPr>
          <p:nvPr>
            <p:ph type="title"/>
          </p:nvPr>
        </p:nvSpPr>
        <p:spPr>
          <a:xfrm>
            <a:off x="185724" y="213247"/>
            <a:ext cx="10834234" cy="61277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2225">
            <a:solidFill>
              <a:schemeClr val="accent2"/>
            </a:solidFill>
          </a:ln>
        </p:spPr>
        <p:txBody>
          <a:bodyPr/>
          <a:lstStyle/>
          <a:p>
            <a:r>
              <a:rPr lang="en-US" dirty="0" smtClean="0"/>
              <a:t>                                            Conclusion</a:t>
            </a:r>
            <a:endParaRPr lang="en-IN" dirty="0"/>
          </a:p>
        </p:txBody>
      </p:sp>
      <p:sp>
        <p:nvSpPr>
          <p:cNvPr id="3" name="Content Placeholder 2">
            <a:extLst>
              <a:ext uri="{FF2B5EF4-FFF2-40B4-BE49-F238E27FC236}">
                <a16:creationId xmlns="" xmlns:a16="http://schemas.microsoft.com/office/drawing/2014/main" id="{67B003C9-103A-47E6-D7EB-87D0A8CB5431}"/>
              </a:ext>
            </a:extLst>
          </p:cNvPr>
          <p:cNvSpPr>
            <a:spLocks noGrp="1"/>
          </p:cNvSpPr>
          <p:nvPr>
            <p:ph idx="1"/>
          </p:nvPr>
        </p:nvSpPr>
        <p:spPr>
          <a:xfrm>
            <a:off x="363415" y="1687724"/>
            <a:ext cx="11465170" cy="3811326"/>
          </a:xfrm>
        </p:spPr>
        <p:txBody>
          <a:bodyPr>
            <a:normAutofit/>
          </a:bodyPr>
          <a:lstStyle/>
          <a:p>
            <a:r>
              <a:rPr lang="en-IN" sz="2600" dirty="0"/>
              <a:t>The predictive analysis has revealed key drivers of employee attrition, such as training hours, city development index, and relevant experience.</a:t>
            </a:r>
          </a:p>
          <a:p>
            <a:r>
              <a:rPr lang="en-IN" sz="2600" dirty="0"/>
              <a:t>These insights empower organizations to adopt targeted strategies for retaining talent, including enhanced programs and city-specific initiatives.</a:t>
            </a:r>
          </a:p>
          <a:p>
            <a:r>
              <a:rPr lang="en-IN" sz="2600" dirty="0"/>
              <a:t>This data-driven approach underscores the value of machine learning in strategic decision-making.</a:t>
            </a:r>
          </a:p>
        </p:txBody>
      </p:sp>
    </p:spTree>
    <p:extLst>
      <p:ext uri="{BB962C8B-B14F-4D97-AF65-F5344CB8AC3E}">
        <p14:creationId xmlns:p14="http://schemas.microsoft.com/office/powerpoint/2010/main" val="657471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6F80C857-4384-387E-D3B0-A675AA2C932C}"/>
              </a:ext>
            </a:extLst>
          </p:cNvPr>
          <p:cNvSpPr>
            <a:spLocks noGrp="1"/>
          </p:cNvSpPr>
          <p:nvPr>
            <p:ph type="title"/>
          </p:nvPr>
        </p:nvSpPr>
        <p:spPr/>
        <p:txBody>
          <a:bodyPr>
            <a:normAutofit/>
          </a:bodyPr>
          <a:lstStyle/>
          <a:p>
            <a:r>
              <a:rPr lang="en-IN" dirty="0"/>
              <a:t/>
            </a:r>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7018</TotalTime>
  <Words>418</Words>
  <Application>Microsoft Macintosh PowerPoint</Application>
  <PresentationFormat>Widescreen</PresentationFormat>
  <Paragraphs>69</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Consolas</vt:lpstr>
      <vt:lpstr>Mangal</vt:lpstr>
      <vt:lpstr>Segoe UI Symbol</vt:lpstr>
      <vt:lpstr>BIA Template</vt:lpstr>
      <vt:lpstr>PowerPoint Presentation</vt:lpstr>
      <vt:lpstr>                                           Agenda</vt:lpstr>
      <vt:lpstr>                                     Business Context</vt:lpstr>
      <vt:lpstr>                             Dataset Overview</vt:lpstr>
      <vt:lpstr>                      Exploratory Data Analysis (EDA)</vt:lpstr>
      <vt:lpstr>                  Preprocessing and Feature Engineering</vt:lpstr>
      <vt:lpstr>Model training and Evaluation</vt:lpstr>
      <vt:lpstr>                                            Insights…</vt:lpstr>
      <vt:lpstr>                                            Conclusion</vt:lpstr>
      <vt:lpstr> Questions ?</vt:lpstr>
      <vt:lpstr>PowerPoint Presentation</vt:lpstr>
    </vt:vector>
  </TitlesOfParts>
  <LinksUpToDate>false</LinksUpToDate>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dvbanna7788@gmail.com</cp:lastModifiedBy>
  <cp:revision>2269</cp:revision>
  <dcterms:created xsi:type="dcterms:W3CDTF">2020-12-23T13:36:00Z</dcterms:created>
  <dcterms:modified xsi:type="dcterms:W3CDTF">2025-12-06T17:20:44Z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